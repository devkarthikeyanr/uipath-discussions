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png"/><Relationship Id="rId25" Type="http://schemas.openxmlformats.org/officeDocument/2006/relationships/image" Target="../media/image26.png"/><Relationship Id="rId26" Type="http://schemas.openxmlformats.org/officeDocument/2006/relationships/image" Target="../media/image27.pn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png"/><Relationship Id="rId30" Type="http://schemas.openxmlformats.org/officeDocument/2006/relationships/image" Target="../media/image31.png"/><Relationship Id="rId31" Type="http://schemas.openxmlformats.org/officeDocument/2006/relationships/image" Target="../media/image32.png"/><Relationship Id="rId32" Type="http://schemas.openxmlformats.org/officeDocument/2006/relationships/image" Target="../media/image33.png"/><Relationship Id="rId33" Type="http://schemas.openxmlformats.org/officeDocument/2006/relationships/image" Target="../media/image34.png"/><Relationship Id="rId34" Type="http://schemas.openxmlformats.org/officeDocument/2006/relationships/image" Target="../media/image35.png"/><Relationship Id="rId35" Type="http://schemas.openxmlformats.org/officeDocument/2006/relationships/image" Target="../media/image36.png"/><Relationship Id="rId36" Type="http://schemas.openxmlformats.org/officeDocument/2006/relationships/image" Target="../media/image37.png"/><Relationship Id="rId37" Type="http://schemas.openxmlformats.org/officeDocument/2006/relationships/image" Target="../media/image38.png"/><Relationship Id="rId38" Type="http://schemas.openxmlformats.org/officeDocument/2006/relationships/image" Target="../media/image39.png"/><Relationship Id="rId39" Type="http://schemas.openxmlformats.org/officeDocument/2006/relationships/image" Target="../media/image40.png"/><Relationship Id="rId40" Type="http://schemas.openxmlformats.org/officeDocument/2006/relationships/image" Target="../media/image41.png"/><Relationship Id="rId41" Type="http://schemas.openxmlformats.org/officeDocument/2006/relationships/image" Target="../media/image42.png"/><Relationship Id="rId42" Type="http://schemas.openxmlformats.org/officeDocument/2006/relationships/image" Target="../media/image43.png"/><Relationship Id="rId43" Type="http://schemas.openxmlformats.org/officeDocument/2006/relationships/image" Target="../media/image44.png"/><Relationship Id="rId44" Type="http://schemas.openxmlformats.org/officeDocument/2006/relationships/image" Target="../media/image45.png"/><Relationship Id="rId45" Type="http://schemas.openxmlformats.org/officeDocument/2006/relationships/image" Target="../media/image46.png"/><Relationship Id="rId46" Type="http://schemas.openxmlformats.org/officeDocument/2006/relationships/image" Target="../media/image47.png"/><Relationship Id="rId47" Type="http://schemas.openxmlformats.org/officeDocument/2006/relationships/image" Target="../media/image48.png"/><Relationship Id="rId48" Type="http://schemas.openxmlformats.org/officeDocument/2006/relationships/image" Target="../media/image49.png"/><Relationship Id="rId49" Type="http://schemas.openxmlformats.org/officeDocument/2006/relationships/image" Target="../media/image50.png"/><Relationship Id="rId50" Type="http://schemas.openxmlformats.org/officeDocument/2006/relationships/image" Target="../media/image51.png"/><Relationship Id="rId51" Type="http://schemas.openxmlformats.org/officeDocument/2006/relationships/image" Target="../media/image52.png"/><Relationship Id="rId52" Type="http://schemas.openxmlformats.org/officeDocument/2006/relationships/image" Target="../media/image53.png"/><Relationship Id="rId53" Type="http://schemas.openxmlformats.org/officeDocument/2006/relationships/image" Target="../media/image54.png"/><Relationship Id="rId54" Type="http://schemas.openxmlformats.org/officeDocument/2006/relationships/image" Target="../media/image55.png"/><Relationship Id="rId55" Type="http://schemas.openxmlformats.org/officeDocument/2006/relationships/image" Target="../media/image56.png"/><Relationship Id="rId56" Type="http://schemas.openxmlformats.org/officeDocument/2006/relationships/image" Target="../media/image57.png"/><Relationship Id="rId57" Type="http://schemas.openxmlformats.org/officeDocument/2006/relationships/image" Target="../media/image5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Relationship Id="rId15" Type="http://schemas.openxmlformats.org/officeDocument/2006/relationships/image" Target="../media/image72.png"/><Relationship Id="rId16" Type="http://schemas.openxmlformats.org/officeDocument/2006/relationships/image" Target="../media/image73.png"/><Relationship Id="rId17" Type="http://schemas.openxmlformats.org/officeDocument/2006/relationships/image" Target="../media/image74.png"/><Relationship Id="rId18" Type="http://schemas.openxmlformats.org/officeDocument/2006/relationships/image" Target="../media/image75.png"/><Relationship Id="rId19" Type="http://schemas.openxmlformats.org/officeDocument/2006/relationships/image" Target="../media/image76.png"/><Relationship Id="rId20" Type="http://schemas.openxmlformats.org/officeDocument/2006/relationships/image" Target="../media/image77.png"/><Relationship Id="rId21" Type="http://schemas.openxmlformats.org/officeDocument/2006/relationships/image" Target="../media/image78.png"/><Relationship Id="rId22" Type="http://schemas.openxmlformats.org/officeDocument/2006/relationships/image" Target="../media/image79.png"/><Relationship Id="rId23" Type="http://schemas.openxmlformats.org/officeDocument/2006/relationships/image" Target="../media/image80.png"/><Relationship Id="rId24" Type="http://schemas.openxmlformats.org/officeDocument/2006/relationships/image" Target="../media/image81.png"/><Relationship Id="rId25" Type="http://schemas.openxmlformats.org/officeDocument/2006/relationships/image" Target="../media/image82.png"/><Relationship Id="rId26" Type="http://schemas.openxmlformats.org/officeDocument/2006/relationships/image" Target="../media/image83.png"/><Relationship Id="rId27" Type="http://schemas.openxmlformats.org/officeDocument/2006/relationships/image" Target="../media/image84.png"/><Relationship Id="rId28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0" y="1737419"/>
            <a:ext cx="22098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2270819"/>
            <a:ext cx="9001125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b="1" sz="4200" i="0" u="none">
                <a:solidFill>
                  <a:srgbClr val="0F172A"/>
                </a:solidFill>
                <a:latin typeface="Inter"/>
              </a:rPr>
              <a:t>Automated Post-Patch Application Testing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634680"/>
            <a:ext cx="8572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64748B"/>
                </a:solidFill>
                <a:latin typeface="Inter"/>
              </a:rPr>
              <a:t>System Architecture &amp; Execution Flow Blueprint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5" y="4453830"/>
            <a:ext cx="476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304925"/>
            <a:ext cx="3146970" cy="2381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720" y="1304925"/>
            <a:ext cx="4945260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876675"/>
            <a:ext cx="8282731" cy="2381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9481" y="1304925"/>
            <a:ext cx="3146970" cy="495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0845" y="2428222"/>
            <a:ext cx="1077630" cy="107763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9373" y="3269830"/>
            <a:ext cx="1347038" cy="134703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9120" y="1819275"/>
            <a:ext cx="2449710" cy="895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9120" y="2809875"/>
            <a:ext cx="2449710" cy="895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8400" y="4210050"/>
            <a:ext cx="6111031" cy="11144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8400" y="5419725"/>
            <a:ext cx="6111031" cy="11144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9771" y="4549565"/>
            <a:ext cx="673519" cy="67351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9771" y="5759240"/>
            <a:ext cx="673519" cy="67351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060" y="1347787"/>
            <a:ext cx="1981200" cy="7048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59031" y="2047875"/>
            <a:ext cx="2727870" cy="885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7237" y="4581525"/>
            <a:ext cx="1285875" cy="7048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" y="6991350"/>
            <a:ext cx="1047750" cy="7048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7680" y="3719512"/>
            <a:ext cx="638175" cy="533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64866" y="3719512"/>
            <a:ext cx="866775" cy="4953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59031" y="5229225"/>
            <a:ext cx="904875" cy="590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34402" y="5229225"/>
            <a:ext cx="952500" cy="590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13895" y="2162175"/>
            <a:ext cx="381000" cy="4476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81563" y="2162175"/>
            <a:ext cx="371475" cy="4476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39706" y="2162175"/>
            <a:ext cx="514350" cy="4476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13895" y="3152775"/>
            <a:ext cx="381000" cy="4476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86313" y="3152775"/>
            <a:ext cx="561975" cy="4476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39706" y="3152775"/>
            <a:ext cx="514350" cy="4476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543175" y="4600575"/>
            <a:ext cx="714375" cy="571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581400" y="4600575"/>
            <a:ext cx="857250" cy="571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62500" y="4600575"/>
            <a:ext cx="657225" cy="571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43575" y="4600575"/>
            <a:ext cx="609600" cy="571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543175" y="5810250"/>
            <a:ext cx="714375" cy="571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81400" y="5810250"/>
            <a:ext cx="819150" cy="571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724400" y="5810250"/>
            <a:ext cx="781050" cy="571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829300" y="5810250"/>
            <a:ext cx="609600" cy="571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System Architecture Blueprint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6250" y="990600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1514475"/>
            <a:ext cx="272787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Inter"/>
              </a:rPr>
              <a:t>1. INITIATION PHASE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270" y="1514475"/>
            <a:ext cx="452616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Inter"/>
              </a:rPr>
              <a:t>2. UIPATH STUDIO: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086225"/>
            <a:ext cx="7863631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Inter"/>
              </a:rPr>
              <a:t>3. ORCHESTRATION &amp; EXECUTION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9031" y="1514475"/>
            <a:ext cx="272787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Inter"/>
              </a:rPr>
              <a:t>4. TEST MANAGER &amp; ROLLOUT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992510" y="2195512"/>
            <a:ext cx="1143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880520" y="2686050"/>
            <a:ext cx="133350" cy="152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654081" y="2686050"/>
            <a:ext cx="133350" cy="152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209800" y="5343525"/>
            <a:ext cx="133350" cy="152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465742" y="3076575"/>
            <a:ext cx="114300" cy="152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949648" y="1481137"/>
            <a:ext cx="200025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840110" y="2904232"/>
            <a:ext cx="419100" cy="125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b="1" sz="825" i="0" u="none">
                <a:solidFill>
                  <a:srgbClr val="FFFFFF"/>
                </a:solidFill>
                <a:latin typeface="Inter"/>
              </a:rPr>
              <a:t>Trigger?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275683" y="2462212"/>
            <a:ext cx="257175" cy="2286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130331" y="2462212"/>
            <a:ext cx="171450" cy="2286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43025" y="5429250"/>
            <a:ext cx="114300" cy="1524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43025" y="6696075"/>
            <a:ext cx="114300" cy="1524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408592" y="2181225"/>
            <a:ext cx="228600" cy="2286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003780" y="2667000"/>
            <a:ext cx="1038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475569"/>
                </a:solidFill>
                <a:latin typeface="Inter"/>
              </a:rPr>
              <a:t>Pass/Fail Dashboard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65717" y="3754933"/>
            <a:ext cx="514350" cy="37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9"/>
              </a:lnSpc>
            </a:pPr>
            <a:r>
              <a:rPr b="1" sz="825" i="0" u="none">
                <a:solidFill>
                  <a:srgbClr val="FFFFFF"/>
                </a:solidFill>
                <a:latin typeface="Inter"/>
              </a:rPr>
              <a:t>Approved</a:t>
            </a:r>
            <a:r>
              <a:t>
</a:t>
            </a:r>
            <a:r>
              <a:rPr b="1" sz="825" i="0" u="none">
                <a:solidFill>
                  <a:srgbClr val="FFFFFF"/>
                </a:solidFill>
                <a:latin typeface="Inter"/>
              </a:rPr>
              <a:t> for</a:t>
            </a:r>
            <a:r>
              <a:t>
</a:t>
            </a:r>
            <a:r>
              <a:rPr b="1" sz="825" i="0" u="none">
                <a:solidFill>
                  <a:srgbClr val="FFFFFF"/>
                </a:solidFill>
                <a:latin typeface="Inter"/>
              </a:rPr>
              <a:t> Rollout?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5330" y="3538537"/>
            <a:ext cx="1428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SemiBold"/>
              </a:rPr>
              <a:t>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03003" y="3538537"/>
            <a:ext cx="190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SemiBold"/>
              </a:rP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13895" y="1924050"/>
            <a:ext cx="224016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475569"/>
                </a:solidFill>
                <a:latin typeface="Inter SemiBold"/>
              </a:rPr>
              <a:t>Outlook Actions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3895" y="2914650"/>
            <a:ext cx="224016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475569"/>
                </a:solidFill>
                <a:latin typeface="Inter SemiBold"/>
              </a:rPr>
              <a:t>Teams Actions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300162" y="4714875"/>
            <a:ext cx="200025" cy="2286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285875" y="5838825"/>
            <a:ext cx="228600" cy="2286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257300" y="7124700"/>
            <a:ext cx="285750" cy="2286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2543175" y="4314825"/>
            <a:ext cx="590148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SemiBold"/>
              </a:rPr>
              <a:t>Outlook Test Path Execution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43175" y="5524500"/>
            <a:ext cx="590148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SemiBold"/>
              </a:rPr>
              <a:t>Teams Test Path Execution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16219" y="4705350"/>
            <a:ext cx="190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SemiBold"/>
              </a:rPr>
              <a:t>Yes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554319" y="4933950"/>
            <a:ext cx="114300" cy="1524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1339214" y="4705350"/>
            <a:ext cx="1428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SemiBold"/>
              </a:rPr>
              <a:t>No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353502" y="4933950"/>
            <a:ext cx="114300" cy="1524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52800" y="4810125"/>
            <a:ext cx="133350" cy="1524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33900" y="4810125"/>
            <a:ext cx="133350" cy="15240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514975" y="4810125"/>
            <a:ext cx="133350" cy="15240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52800" y="6019800"/>
            <a:ext cx="133350" cy="15240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495800" y="6019800"/>
            <a:ext cx="133350" cy="15240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600700" y="6019800"/>
            <a:ext cx="133350" cy="15240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328195" y="2228850"/>
            <a:ext cx="152400" cy="15240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191101" y="2228850"/>
            <a:ext cx="152400" cy="15240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120681" y="2228850"/>
            <a:ext cx="152400" cy="152400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309145" y="3219450"/>
            <a:ext cx="190500" cy="15240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191101" y="3219450"/>
            <a:ext cx="152400" cy="15240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120681" y="3219450"/>
            <a:ext cx="152400" cy="152400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800350" y="4667250"/>
            <a:ext cx="200025" cy="22860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895725" y="4667250"/>
            <a:ext cx="228600" cy="228600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991100" y="4667250"/>
            <a:ext cx="200025" cy="228600"/>
          </a:xfrm>
          <a:prstGeom prst="rect">
            <a:avLst/>
          </a:prstGeom>
        </p:spPr>
      </p:pic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948362" y="4667250"/>
            <a:ext cx="200025" cy="22860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006558" y="4834852"/>
            <a:ext cx="400050" cy="102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0"/>
              </a:lnSpc>
            </a:pPr>
            <a:r>
              <a:rPr b="1" sz="675" i="0" u="none">
                <a:solidFill>
                  <a:srgbClr val="FFFFFF"/>
                </a:solidFill>
                <a:latin typeface="Inter"/>
              </a:rPr>
              <a:t>Success?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757487" y="5876925"/>
            <a:ext cx="285750" cy="228600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876675" y="5876925"/>
            <a:ext cx="228600" cy="228600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014912" y="5876925"/>
            <a:ext cx="200025" cy="228600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034087" y="5876925"/>
            <a:ext cx="200025" cy="2286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8006558" y="6044527"/>
            <a:ext cx="400050" cy="102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0"/>
              </a:lnSpc>
            </a:pPr>
            <a:r>
              <a:rPr b="1" sz="675" i="0" u="none">
                <a:solidFill>
                  <a:srgbClr val="FFFFFF"/>
                </a:solidFill>
                <a:latin typeface="Inter"/>
              </a:rPr>
              <a:t>Success?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304925"/>
            <a:ext cx="3048000" cy="521493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304925"/>
            <a:ext cx="4572000" cy="52149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0" y="1304925"/>
            <a:ext cx="3048000" cy="52149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5376862"/>
            <a:ext cx="2438400" cy="838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0980" y="2474565"/>
            <a:ext cx="316989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0980" y="3248173"/>
            <a:ext cx="316989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0980" y="4021782"/>
            <a:ext cx="3169890" cy="628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0980" y="4966841"/>
            <a:ext cx="316989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0980" y="5740449"/>
            <a:ext cx="316989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0530" y="2588865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0530" y="3362473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0530" y="4221807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0530" y="5081141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20530" y="5854749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Post-Patch Outlook Test: Behavior-Driven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6250" y="990600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050" y="1609725"/>
            <a:ext cx="2438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369A1"/>
                </a:solidFill>
                <a:latin typeface="Inter"/>
              </a:rPr>
              <a:t>GIVEN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1981200"/>
            <a:ext cx="2438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284C7"/>
                </a:solidFill>
                <a:latin typeface="Inter Medium"/>
              </a:rPr>
              <a:t>Pre-conditions &amp;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609725"/>
            <a:ext cx="3962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1981200"/>
            <a:ext cx="3962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 Medium"/>
              </a:rPr>
              <a:t>Execution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2550" y="1609725"/>
            <a:ext cx="2438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FFFFF"/>
                </a:solidFill>
                <a:latin typeface="Inter"/>
              </a:rPr>
              <a:t>THEN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2550" y="1981200"/>
            <a:ext cx="2438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8BDF8"/>
                </a:solidFill>
                <a:latin typeface="Inter Medium"/>
              </a:rPr>
              <a:t>Assertions &amp; Verification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925" y="2671762"/>
            <a:ext cx="257175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23975" y="2600325"/>
            <a:ext cx="17526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1125" i="0" u="none">
                <a:solidFill>
                  <a:srgbClr val="334155"/>
                </a:solidFill>
                <a:latin typeface="Inter SemiBold"/>
              </a:rPr>
              <a:t>System Rebooted &amp; Patched Successfully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3925" y="3564731"/>
            <a:ext cx="28575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52550" y="3400425"/>
            <a:ext cx="172402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1125" i="0" u="none">
                <a:solidFill>
                  <a:srgbClr val="334155"/>
                </a:solidFill>
                <a:latin typeface="Inter SemiBold"/>
              </a:rPr>
              <a:t>UiPath Robot Authenticated via Orchestrator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3925" y="4550568"/>
            <a:ext cx="228600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95400" y="4386262"/>
            <a:ext cx="178117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1125" i="0" u="none">
                <a:solidFill>
                  <a:srgbClr val="334155"/>
                </a:solidFill>
                <a:latin typeface="Inter SemiBold"/>
              </a:rPr>
              <a:t>Standardized Test File (PDF) staged in local temp directory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3925" y="5536406"/>
            <a:ext cx="228600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95400" y="5372100"/>
            <a:ext cx="178117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1125" i="0" u="none">
                <a:solidFill>
                  <a:srgbClr val="334155"/>
                </a:solidFill>
                <a:latin typeface="Inter SemiBold"/>
              </a:rPr>
              <a:t>Outlook Process Confirmed Closed (Clean State)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38850" y="3013769"/>
            <a:ext cx="11430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38850" y="3787378"/>
            <a:ext cx="11430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38850" y="4732436"/>
            <a:ext cx="11430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38850" y="5506045"/>
            <a:ext cx="11430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24950" y="2681287"/>
            <a:ext cx="228600" cy="228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496425" y="2609850"/>
            <a:ext cx="17621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1125" i="0" u="none">
                <a:solidFill>
                  <a:srgbClr val="FFFFFF"/>
                </a:solidFill>
                <a:latin typeface="Inter Medium"/>
              </a:rPr>
              <a:t>UI Remains Stable (Zero Application Crashes)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24950" y="3593306"/>
            <a:ext cx="257175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25000" y="3429000"/>
            <a:ext cx="17335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1125" i="0" u="none">
                <a:solidFill>
                  <a:srgbClr val="FFFFFF"/>
                </a:solidFill>
                <a:latin typeface="Inter Medium"/>
              </a:rPr>
              <a:t>Email Successfully Moves from Outbox to Sent Items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24950" y="4598193"/>
            <a:ext cx="228600" cy="2286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496425" y="4433887"/>
            <a:ext cx="176212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1125" i="0" u="none">
                <a:solidFill>
                  <a:srgbClr val="FFFFFF"/>
                </a:solidFill>
                <a:latin typeface="Inter Medium"/>
              </a:rPr>
              <a:t>Verify Delivery via Secondary Inbox Check (Optional/API)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2550" y="5576887"/>
            <a:ext cx="2438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Inter"/>
              </a:rPr>
              <a:t>Test Manager Result Logged: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2550" y="5872162"/>
            <a:ext cx="2438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latin typeface="Inter"/>
              </a:rPr>
              <a:t>or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92005" y="2607915"/>
            <a:ext cx="171450" cy="1905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406330" y="2603152"/>
            <a:ext cx="1905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 SemiBold"/>
              </a:rPr>
              <a:t>Initialize Outlook Application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92005" y="3381523"/>
            <a:ext cx="190500" cy="1905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425380" y="3376761"/>
            <a:ext cx="1971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 SemiBold"/>
              </a:rPr>
              <a:t>Click "New Email" &amp; Compose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92005" y="4240857"/>
            <a:ext cx="219075" cy="1905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453955" y="4136082"/>
            <a:ext cx="201736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 SemiBold"/>
              </a:rPr>
              <a:t>Input Test Recipient &amp; Dynamic Subject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92005" y="5100191"/>
            <a:ext cx="171450" cy="1905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406330" y="5095428"/>
            <a:ext cx="1905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 SemiBold"/>
              </a:rPr>
              <a:t>Attach Standardized PDF File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92005" y="5873799"/>
            <a:ext cx="190500" cy="1905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425380" y="5869037"/>
            <a:ext cx="13049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 SemiBold"/>
              </a:rPr>
              <a:t>Click "Send" Button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01150" y="5872162"/>
            <a:ext cx="771525" cy="3429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477500" y="5872162"/>
            <a:ext cx="704850" cy="3429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571875" y="3798093"/>
            <a:ext cx="142875" cy="2286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29625" y="3798093"/>
            <a:ext cx="142875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